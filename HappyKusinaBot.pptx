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7" r:id="rId2"/>
    <p:sldId id="266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>
        <p:scale>
          <a:sx n="200" d="100"/>
          <a:sy n="200" d="100"/>
        </p:scale>
        <p:origin x="319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0499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B106-0F71-89BC-3258-2A6E6517A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42C2E-270F-980F-8008-8F89A3147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42487-9285-AC0B-CBEE-093014F98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6C485-7059-62A6-4924-E75F077047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38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2F59-B48B-F91D-8629-D7B07474E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74E47C-F4E1-2976-E76D-B9206A030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EBF27F-0FC1-68D0-83C2-4FFE6487C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DEFCF-38B9-1253-A696-85E028C4E5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613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False positives when users mention languages</a:t>
            </a:r>
            <a:r>
              <a:rPr lang="en-US" dirty="0"/>
              <a:t>; Uses </a:t>
            </a:r>
            <a:r>
              <a:rPr lang="en-US" b="1" dirty="0"/>
              <a:t>strict regexes</a:t>
            </a:r>
            <a:r>
              <a:rPr lang="en-US" dirty="0"/>
              <a:t> built from known aliases to detect explicit language commands, avoiding casual mentions; UI </a:t>
            </a:r>
            <a:r>
              <a:rPr lang="en-US" b="1" dirty="0"/>
              <a:t>switches reply language</a:t>
            </a:r>
            <a:r>
              <a:rPr lang="en-US" dirty="0"/>
              <a:t> immediately and confirms in the new language (and pre-generates TTS).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LLM cost/latency </a:t>
            </a:r>
            <a:r>
              <a:rPr lang="en-US" dirty="0" err="1"/>
              <a:t>llm_zero</a:t>
            </a:r>
            <a:r>
              <a:rPr lang="en-US" dirty="0"/>
              <a:t>() </a:t>
            </a:r>
            <a:r>
              <a:rPr lang="en-US" b="1" dirty="0"/>
              <a:t>caches</a:t>
            </a:r>
            <a:r>
              <a:rPr lang="en-US" dirty="0"/>
              <a:t> </a:t>
            </a:r>
            <a:r>
              <a:rPr lang="en-US" dirty="0" err="1"/>
              <a:t>ChatOpenAI</a:t>
            </a:r>
            <a:r>
              <a:rPr lang="en-US" dirty="0"/>
              <a:t> instances by (model, temperature) and is used wherever you call the LLM; .env </a:t>
            </a:r>
            <a:r>
              <a:rPr lang="en-US" b="1" dirty="0"/>
              <a:t>CHEF_BOT_MODEL</a:t>
            </a:r>
            <a:r>
              <a:rPr lang="en-US" dirty="0"/>
              <a:t> drives model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vector_search</a:t>
            </a:r>
            <a:r>
              <a:rPr lang="en-US" dirty="0"/>
              <a:t> blends </a:t>
            </a:r>
            <a:r>
              <a:rPr lang="en-US" b="1" dirty="0"/>
              <a:t>semantic similarity</a:t>
            </a:r>
            <a:r>
              <a:rPr lang="en-US" dirty="0"/>
              <a:t> (</a:t>
            </a:r>
            <a:r>
              <a:rPr lang="en-US" dirty="0" err="1"/>
              <a:t>distance→similarity</a:t>
            </a:r>
            <a:r>
              <a:rPr lang="en-US" dirty="0"/>
              <a:t>) with optional </a:t>
            </a:r>
            <a:r>
              <a:rPr lang="en-US" b="1" dirty="0"/>
              <a:t>text similarity</a:t>
            </a:r>
            <a:r>
              <a:rPr lang="en-US" dirty="0"/>
              <a:t> and </a:t>
            </a:r>
            <a:r>
              <a:rPr lang="en-US" b="1" dirty="0"/>
              <a:t>geographic boost</a:t>
            </a:r>
            <a:r>
              <a:rPr lang="en-US" dirty="0"/>
              <a:t>; localizes ingredient names for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Retrieval quality</a:t>
            </a:r>
            <a:r>
              <a:rPr lang="en-US" dirty="0"/>
              <a:t> if pure cosine distance misses exact terms or locality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Hallucinations</a:t>
            </a:r>
            <a:r>
              <a:rPr lang="en-US" dirty="0"/>
              <a:t> when retrieval is weak; </a:t>
            </a:r>
            <a:r>
              <a:rPr lang="en-US" dirty="0" err="1"/>
              <a:t>guarded_chat_once</a:t>
            </a:r>
            <a:r>
              <a:rPr lang="en-US" dirty="0"/>
              <a:t> checks </a:t>
            </a:r>
            <a:r>
              <a:rPr lang="en-US" b="1" dirty="0"/>
              <a:t>top hit distance</a:t>
            </a:r>
            <a:r>
              <a:rPr lang="en-US" dirty="0"/>
              <a:t> (and you have an _</a:t>
            </a:r>
            <a:r>
              <a:rPr lang="en-US" dirty="0" err="1"/>
              <a:t>is_low_conf</a:t>
            </a:r>
            <a:r>
              <a:rPr lang="en-US" dirty="0"/>
              <a:t> margin check); if low-confidence, it asks brief </a:t>
            </a:r>
            <a:r>
              <a:rPr lang="en-US" b="1" dirty="0"/>
              <a:t>clarifying questions</a:t>
            </a:r>
            <a:r>
              <a:rPr lang="en-US" dirty="0"/>
              <a:t> instead of guessing; otherwise injects </a:t>
            </a:r>
            <a:r>
              <a:rPr lang="en-US" b="1" dirty="0"/>
              <a:t>retrieved context</a:t>
            </a:r>
            <a:r>
              <a:rPr lang="en-US" dirty="0"/>
              <a:t> before invoking the 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are </a:t>
            </a:r>
            <a:r>
              <a:rPr lang="en-US" b="1" dirty="0"/>
              <a:t>modular</a:t>
            </a:r>
            <a:r>
              <a:rPr lang="en-US" dirty="0"/>
              <a:t> (@tool with docstrings + prompt templates) and registered once when building the agent; prompts kept close to each tool. </a:t>
            </a:r>
            <a:r>
              <a:rPr lang="en-US" b="1" dirty="0"/>
              <a:t>Thin agent, fat tools.</a:t>
            </a:r>
            <a:r>
              <a:rPr lang="en-US" dirty="0"/>
              <a:t> The agent is a stable shell with memory and tracing; all capabilities live in modular @tool functions. You just register tools once and the agent can call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\\home\oai\share\nlp.py#:~:text=_CMD_PATTERNS%20%3D%20%5B%20rf,IGNORECASE%29%20for%20p%20in%20_CMD_PATTERNS" TargetMode="Externa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\\home\oai\share\nlp.py#:~:text=,kwargs%29%20return%20_LLM_CACHE%5Bcache_key" TargetMode="Externa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\\home\oai\share\tools.py#:~:text=,0%2C%20base" TargetMode="Externa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\\home\oai\share\agent.py#:~:text=1%29%20If%20retrieval%20is%20low,if%20vs%20else" TargetMode="External"/><Relationship Id="rId4" Type="http://schemas.openxmlformats.org/officeDocument/2006/relationships/image" Target="../media/image9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file:///\\home\oai\share\tools.py#:~:text=%40tool%28,tx%20%3D%20transcribe_youtube_best_effort%28url" TargetMode="External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\\home\oai\share\streamlit_app.py#:~:text=st.markdown%28%22,resolve" TargetMode="External"/><Relationship Id="rId5" Type="http://schemas.openxmlformats.org/officeDocument/2006/relationships/hyperlink" Target="file:///\\home\oai\share\streamlit_app.py" TargetMode="External"/><Relationship Id="rId4" Type="http://schemas.openxmlformats.org/officeDocument/2006/relationships/image" Target="../media/image1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hyperlink" Target="file:///\\home\oai\share\agent.py#:~:text=%23%20,KusinaBo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file:///\\home\oai\share\tools.py#:~:text=,ings" TargetMode="External"/><Relationship Id="rId5" Type="http://schemas.openxmlformats.org/officeDocument/2006/relationships/hyperlink" Target="file:///\\home\oai\share\tools.py#:~:text=%40tool%28,Ingredients%3A%5Cn%7Bings%7D%5CnServings%3A%20%7Bserv%7D%5CnLocale%3A%20%7Bloc" TargetMode="Externa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quokkalabs.com/blog/top-trends-in-ai-language-models/#:~:text=%23%209.%20Voice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9DFE1-DEEB-E869-D0D3-F3ADAE7CB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B24C7E-2D5E-4C4E-9CD5-D61F243C9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9072643-A0EC-42FB-B66A-24C0E6FFD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" y="1384778"/>
            <a:ext cx="9036622" cy="2373943"/>
            <a:chOff x="143163" y="5763486"/>
            <a:chExt cx="12048829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45065" y="5763486"/>
              <a:ext cx="11546927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5FB1B595-4E0E-4913-822E-EB9B40163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434108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C48EA58-53D6-4E4A-9BDB-087D34617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5564" y="292137"/>
            <a:ext cx="5014971" cy="454398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8293F24D-2567-B066-7771-FF6B1A5DCF61}"/>
              </a:ext>
            </a:extLst>
          </p:cNvPr>
          <p:cNvSpPr/>
          <p:nvPr/>
        </p:nvSpPr>
        <p:spPr>
          <a:xfrm>
            <a:off x="716973" y="726324"/>
            <a:ext cx="4197927" cy="3690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Happy KusinaBot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1F8E8-D071-D217-D472-E0128BD1483D}"/>
              </a:ext>
            </a:extLst>
          </p:cNvPr>
          <p:cNvSpPr txBox="1"/>
          <p:nvPr/>
        </p:nvSpPr>
        <p:spPr>
          <a:xfrm>
            <a:off x="4443413" y="4401877"/>
            <a:ext cx="3936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 Engineering Project: Happy Manaloto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50549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9542F5-459D-7D6D-3D40-619E76DE4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38DDB7AB-B9AE-731F-A5A4-4BF2790F5CF8}"/>
              </a:ext>
            </a:extLst>
          </p:cNvPr>
          <p:cNvSpPr/>
          <p:nvPr/>
        </p:nvSpPr>
        <p:spPr>
          <a:xfrm>
            <a:off x="401746" y="439731"/>
            <a:ext cx="3027251" cy="17907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Goal: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2238744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23252" y="0"/>
            <a:ext cx="1120748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64357" y="293914"/>
            <a:ext cx="4507025" cy="451280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D1B4A7-4CB1-ED87-3C55-05F9CD158D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1869" y="831828"/>
            <a:ext cx="4152000" cy="34357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289059F-B23B-5144-A7AA-0D6A2D48E60D}"/>
              </a:ext>
            </a:extLst>
          </p:cNvPr>
          <p:cNvSpPr txBox="1"/>
          <p:nvPr/>
        </p:nvSpPr>
        <p:spPr>
          <a:xfrm>
            <a:off x="679450" y="233967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800" i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 multimodal AI kitchen assistant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9175553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310EF6-8869-677A-FEA3-EC86087BFDCD}"/>
              </a:ext>
            </a:extLst>
          </p:cNvPr>
          <p:cNvSpPr txBox="1"/>
          <p:nvPr/>
        </p:nvSpPr>
        <p:spPr>
          <a:xfrm>
            <a:off x="362551" y="1171694"/>
            <a:ext cx="8826500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spcBef>
                <a:spcPts val="180"/>
              </a:spcBef>
              <a:spcAft>
                <a:spcPts val="180"/>
              </a:spcAft>
            </a:pPr>
            <a:endParaRPr lang="en" sz="18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 input: </a:t>
            </a:r>
            <a:r>
              <a:rPr lang="e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Streamlit interface.</a:t>
            </a:r>
            <a:endParaRPr lang="en-N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Language handling:</a:t>
            </a:r>
            <a:r>
              <a:rPr lang="e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English for retrieval</a:t>
            </a:r>
            <a:r>
              <a:rPr lang="en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r</a:t>
            </a:r>
            <a:r>
              <a:rPr lang="e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eplies in the user’s choice.</a:t>
            </a:r>
            <a:endParaRPr lang="en-N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Agent  and Tools:</a:t>
            </a:r>
            <a:r>
              <a:rPr lang="e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System workflow and LangChain calls.</a:t>
            </a:r>
            <a:endParaRPr lang="nl-NL" dirty="0"/>
          </a:p>
          <a:p>
            <a:pPr marL="342900" lvl="0" indent="-342900">
              <a:spcBef>
                <a:spcPts val="180"/>
              </a:spcBef>
              <a:spcAft>
                <a:spcPts val="180"/>
              </a:spcAft>
              <a:buFont typeface="+mj-lt"/>
              <a:buAutoNum type="arabicPeriod"/>
            </a:pPr>
            <a:r>
              <a:rPr lang="en" sz="18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Post‑processing:</a:t>
            </a:r>
            <a:r>
              <a:rPr lang="en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gtts</a:t>
            </a:r>
            <a:endParaRPr lang="en-NL" sz="18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3B509F72-7D47-A72B-2FF4-A6B09667221F}"/>
              </a:ext>
            </a:extLst>
          </p:cNvPr>
          <p:cNvSpPr/>
          <p:nvPr/>
        </p:nvSpPr>
        <p:spPr>
          <a:xfrm>
            <a:off x="203799" y="631344"/>
            <a:ext cx="4164402" cy="20182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dirty="0">
                <a:latin typeface="+mj-lt"/>
                <a:ea typeface="+mj-ea"/>
                <a:cs typeface="+mj-cs"/>
              </a:rPr>
              <a:t>Information Flow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1969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317961" y="1045259"/>
            <a:ext cx="4878975" cy="20182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Addressing Issues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7250" y="3311434"/>
            <a:ext cx="8986749" cy="1565846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50279" y="440871"/>
            <a:ext cx="4878975" cy="426175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242163" y="1097279"/>
            <a:ext cx="4156790" cy="32253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600" b="1" dirty="0"/>
              <a:t>
</a:t>
            </a:r>
            <a:endParaRPr lang="en-US" sz="1600" dirty="0"/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600" dirty="0"/>
              <a:t>1. Language switching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600" dirty="0"/>
              <a:t>2. Latency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600" dirty="0"/>
              <a:t>3. “Not quite” answers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600" dirty="0"/>
              <a:t>4. Hallucination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600" dirty="0"/>
              <a:t>5. Forgetting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600" dirty="0"/>
              <a:t>6. Robotic voice</a:t>
            </a:r>
          </a:p>
          <a:p>
            <a:pPr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sz="1600" dirty="0"/>
              <a:t>7. Limited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Language switch for </a:t>
            </a:r>
            <a:r>
              <a:rPr lang="en-US" sz="2400" dirty="0">
                <a:solidFill>
                  <a:srgbClr val="030A18"/>
                </a:solidFill>
                <a:latin typeface="Arial" pitchFamily="34" charset="0"/>
                <a:cs typeface="Arial" pitchFamily="34" charset="-120"/>
              </a:rPr>
              <a:t>false positives inputs</a:t>
            </a: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Strict regex patterns detect /lang commands and synonyms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Fallback LLM parser resolves ambiguous inputs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Prevents false positives and supports dynamic language control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505242" y="2635055"/>
            <a:ext cx="5291211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726808" y="2680775"/>
            <a:ext cx="6173079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_CMD_PATTERNS = [
  r"^(?:/lang ...)",
  r"^(?:language|switch|reply|answer|speak|use|set|respond ...)",
  r"^(?:in ... please|pls ...)",
]
def parse_language_switch(user_text):
  # Fast regex check
  for rx in _CMD_REGEXES:
    if rx.match(norm): return LANG_ALIASES.get(...)
  # LLM fallback
  out = (LANG_SWITCH_PROMPT | llm_zero(temperature=0.0)).invoke(...)
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47777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LLM caching &amp; model selection for latency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Caches ChatOpenAI instances keyed by (model, temperature)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Honours CHEF_BOT_MODEL env var – easy model swapping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Reduces latency and cost by reusing connections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82600" y="2697480"/>
            <a:ext cx="7608081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82600" y="2560320"/>
            <a:ext cx="7608081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llm_zero(temperature=None, model=None):
  chosen_model = model or LLM_MODEL
  chosen_temp  = CHEF_TEMP if temperature is None else float(temperature)
  cache_key = (chosen_model, chosen_temp)
  if cache_key not in _LLM_CACHE:
    _LLM_CACHE[cache_key] = ChatOpenAI(model=chosen_model, temperature=chosen_temp, callbacks=_tracer_cache)
  return _LLM_CACHE[cache_key]
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47777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[2]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Retrieval scoring for locality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660" y="27432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Combines semantic distance, text similarity and geographic boost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Weights: 0.7 × base similarity + 0.3 × text sim + location bonus</a:t>
            </a:r>
          </a:p>
          <a:p>
            <a:pPr marL="190500" indent="-190500">
              <a:buSzPct val="100000"/>
              <a:buChar char="•"/>
            </a:pPr>
            <a:r>
              <a:rPr lang="en-US" sz="1200" dirty="0" err="1">
                <a:solidFill>
                  <a:srgbClr val="030A18"/>
                </a:solidFill>
              </a:rPr>
              <a:t>Localises</a:t>
            </a:r>
            <a:r>
              <a:rPr lang="en-US" sz="1200" dirty="0">
                <a:solidFill>
                  <a:srgbClr val="030A18"/>
                </a:solidFill>
              </a:rPr>
              <a:t> ingredient names to the user’s language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413805" y="2676378"/>
            <a:ext cx="5871503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568450" y="2654398"/>
            <a:ext cx="5676411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compute base similarity
base = 1.0 - float(dist if dist is not None else 1.0)
base = max(0.0, min(1.0, base))
t_sim = float(m.get("text_similarity", 0.0))
boost = 0.0
if country == m.get("country"): boost += 0.10
elif continent == m.get("continent"): boost += 0.05
score = 0.7 * base + 0.3 * t_sim + boost
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47777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[3]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RAG with clarification for hallucinations 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0"/>
            <a:ext cx="4297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Checks retrieval confidence before answering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If low, asks concise clarifying questions instead of hallucinating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Builds an enriched prompt with context and control lines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744394" y="2655277"/>
            <a:ext cx="6193106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744394" y="2759026"/>
            <a:ext cx="683250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not hits or hits[0][1] &gt; RAG_LOWCONF_DISTANCE:
  return "I’m not fully sure what you mean..."
ctx = "
".join(f"- {d.page_content}" for d, _ in hits)
control = f"Reply language: {reply_lang}
Tone: cheerful, friendly..."
enriched_input = f"{control}
Relevant food facts:
{ctx}
User:
{message}"
out = agent.invoke({"input": enriched_input})
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47777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[4]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Summarisation &amp; upsert for the forgetfulness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0"/>
            <a:ext cx="6289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Transcribes YouTube and uses an LLM to summarise into title, ingredients, steps &amp; tip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Upserts the raw transcript into the vector store for future retrieval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Caches a minimal hit to support calorie and shopping follow‑ups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77901" y="3028950"/>
            <a:ext cx="6289040" cy="149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79500" y="2743200"/>
            <a:ext cx="8261351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 = transcribe_youtube_best_effort(url)
out = (prompt | llm_zero(temperature=0)).invoke({"lang": target_lang, "tx": tx[:5000]})
title_line = out.content.splitlines()[0]
_upsert_transcript_into_vs(url, title_line, tx)
# extract key ingredients and cache hit
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47777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[5]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Multi‑modal UI &amp; TTS for robotic voice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0"/>
            <a:ext cx="601599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Supports audio uploads and microphone recording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Summarises transcripts and plays them back via </a:t>
            </a:r>
            <a:r>
              <a:rPr lang="en-US" sz="1200" dirty="0" err="1">
                <a:solidFill>
                  <a:srgbClr val="030A18"/>
                </a:solidFill>
              </a:rPr>
              <a:t>gTTS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Naturalises text and removes unwanted characters for clear speech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956602" y="2743200"/>
            <a:ext cx="7738989" cy="2194560"/>
          </a:xfrm>
          <a:prstGeom prst="rect">
            <a:avLst/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059474" y="2868930"/>
            <a:ext cx="8638442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_naturalize_for_tts(text):
  t = re.sub(r"[•\-–]\s*", ". ", text.strip())
  t = re.sub(r"(?&lt;![.!?])\n+", ". ", t)
  t = t.replace(":", ",")
  t = re.sub(r"\s+", " ", t).strip()
  if t and t[-1] not in ".?!": t += "."
def _strip_unwanted_for_tts(text):
  t = _EMOJI_RE.sub("", text)
  t = re.sub(r"json", "", t, flags=re.IGNORECASE)
  t = t.replace("#", "").replace("*", "").replace("'", "").replace("`", "").replace("{", "").replace("}", "")
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47777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[6]</a:t>
            </a:r>
            <a:r>
              <a:rPr lang="en-US" sz="600" u="sng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97B1DF"/>
                </a:solidFill>
                <a:hlinkClick r:id="rId6"/>
              </a:rPr>
              <a:t>[6.1]</a:t>
            </a:r>
            <a:endParaRPr lang="en-US" sz="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Tool ecosystem for expansion of features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" y="118872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188720"/>
            <a:ext cx="6391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Defines tools via decorators; each has a docstring and prompt template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Tools such as estimate_nutrition, make_shopping_list and translate_text are easy to extend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Agent registers all tools in a single list and passes them to initialise the LangChain agent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553600" y="2970041"/>
            <a:ext cx="6443003" cy="1744394"/>
          </a:xfrm>
          <a:prstGeom prst="rect">
            <a:avLst/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1746348" y="2897944"/>
            <a:ext cx="6391128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30A1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@tool("estimate_nutrition")
def estimate_nutrition(ingredients, servings=2, locale="EU"):
  """Estimate calories/macros per serving from an ingredient list."""
  prompt = ChatPromptTemplate.from_messages([...])
  if cache_key in _nutrition_cache: return ...
  out = (prompt | llm_zero(temperature=0)).invoke({...})
  return out.content
... register tools in build_agent:
tools = [vector_search, keyword_search, transcribe_media, estimate_nutrition, make_shopping_list, ...]
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47777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[7]</a:t>
            </a:r>
            <a:r>
              <a:rPr lang="en-US" sz="600" u="sng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97B1DF"/>
                </a:solidFill>
                <a:hlinkClick r:id="rId6"/>
              </a:rPr>
              <a:t>[8]</a:t>
            </a:r>
            <a:r>
              <a:rPr lang="en-US" sz="600" u="sng" dirty="0">
                <a:solidFill>
                  <a:srgbClr val="000000"/>
                </a:solidFill>
              </a:rPr>
              <a:t>   </a:t>
            </a:r>
            <a:r>
              <a:rPr lang="en-US" sz="600" u="sng" dirty="0">
                <a:solidFill>
                  <a:srgbClr val="97B1DF"/>
                </a:solidFill>
                <a:hlinkClick r:id="rId7"/>
              </a:rPr>
              <a:t>[9]</a:t>
            </a:r>
            <a:endParaRPr lang="en-US" sz="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Takeaways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1210310"/>
            <a:ext cx="805053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30A18"/>
                </a:solidFill>
              </a:rPr>
              <a:t>Happy KusinaBot shows how multimodal AI can turn into interactive helpful knowledge for kitchen queries.
</a:t>
            </a:r>
            <a:r>
              <a:rPr lang="en-US" sz="1400" b="1" dirty="0">
                <a:solidFill>
                  <a:srgbClr val="030A18"/>
                </a:solidFill>
              </a:rPr>
              <a:t>Key takeaways:
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Use explicit patterns for robust language control.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Cache LLM instances and tune retrieval scoring for efficiency and relevance.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Ask clarifying questions when uncertain to avoid hallucinations.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Summarise and store transcripts to build a knowledge base over time.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</a:rPr>
              <a:t>Design UI and tool ecosystem for flexibility and future growth.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47777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[10]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1502</Words>
  <Application>Microsoft Office PowerPoint</Application>
  <PresentationFormat>On-screen Show (16:9)</PresentationFormat>
  <Paragraphs>86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Happy Manaloto</cp:lastModifiedBy>
  <cp:revision>10</cp:revision>
  <dcterms:created xsi:type="dcterms:W3CDTF">2025-08-28T21:32:27Z</dcterms:created>
  <dcterms:modified xsi:type="dcterms:W3CDTF">2025-08-30T16:07:06Z</dcterms:modified>
</cp:coreProperties>
</file>